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12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E67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10607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1274F"/>
                </a:solidFill>
                <a:latin typeface="Aptos Display"/>
              </a:rPr>
              <a:t>CLASE DE PREPARACIÓN DEL EXAMEN</a:t>
            </a:r>
          </a:p>
          <a:p>
            <a:r>
              <a:rPr sz="2400">
                <a:solidFill>
                  <a:srgbClr val="E67832"/>
                </a:solidFill>
                <a:latin typeface="Aptos"/>
              </a:rPr>
              <a:t>Diseño de Interfaces Web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743200"/>
            <a:ext cx="10469880" cy="2286000"/>
          </a:xfrm>
          <a:prstGeom prst="roundRect">
            <a:avLst/>
          </a:prstGeom>
          <a:solidFill>
            <a:srgbClr val="F5F7FA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992" y="3063240"/>
            <a:ext cx="9966960" cy="17373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2100">
                <a:solidFill>
                  <a:srgbClr val="2D2D2D"/>
                </a:solidFill>
                <a:latin typeface="Aptos"/>
              </a:defRPr>
            </a:pPr>
            <a:r>
              <a:t>• Cómo será el examen y cómo se reparte la nota.</a:t>
            </a:r>
          </a:p>
          <a:p>
            <a:pPr>
              <a:spcAft>
                <a:spcPts val="600"/>
              </a:spcAft>
              <a:defRPr sz="2100">
                <a:solidFill>
                  <a:srgbClr val="2D2D2D"/>
                </a:solidFill>
                <a:latin typeface="Aptos"/>
              </a:defRPr>
            </a:pPr>
            <a:r>
              <a:t>• Qué puede aparecer en la parte tipo test.</a:t>
            </a:r>
          </a:p>
          <a:p>
            <a:pPr>
              <a:spcAft>
                <a:spcPts val="600"/>
              </a:spcAft>
              <a:defRPr sz="2100">
                <a:solidFill>
                  <a:srgbClr val="2D2D2D"/>
                </a:solidFill>
                <a:latin typeface="Aptos"/>
              </a:defRPr>
            </a:pPr>
            <a:r>
              <a:t>• Qué puede aparecer en la parte práctica de HTML y CSS.</a:t>
            </a:r>
          </a:p>
          <a:p>
            <a:pPr>
              <a:spcAft>
                <a:spcPts val="600"/>
              </a:spcAft>
              <a:defRPr sz="2100">
                <a:solidFill>
                  <a:srgbClr val="2D2D2D"/>
                </a:solidFill>
                <a:latin typeface="Aptos"/>
              </a:defRPr>
            </a:pPr>
            <a:r>
              <a:t>• Ejemplos de enunciados y posibles apartados teóricos sobre accesibilidad, usabilidad e interacción.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12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E67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5486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1274F"/>
                </a:solidFill>
                <a:latin typeface="Aptos Display"/>
              </a:rPr>
              <a:t>Formato del examen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2578F"/>
                </a:solidFill>
                <a:latin typeface="Aptos"/>
              </a:rPr>
              <a:t>La estructura se mantiene como en las asignaturas anteriores.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0352" y="1554480"/>
            <a:ext cx="5394960" cy="4892040"/>
          </a:xfrm>
          <a:prstGeom prst="roundRect">
            <a:avLst/>
          </a:prstGeom>
          <a:solidFill>
            <a:srgbClr val="F5F7FA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1792" y="1627632"/>
            <a:ext cx="5212080" cy="384048"/>
          </a:xfrm>
          <a:prstGeom prst="roundRect">
            <a:avLst/>
          </a:prstGeom>
          <a:solidFill>
            <a:srgbClr val="2257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700" b="1">
                <a:solidFill>
                  <a:srgbClr val="FFFFFF"/>
                </a:solidFill>
                <a:latin typeface="Aptos"/>
              </a:rPr>
              <a:t>Estructura general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103120"/>
            <a:ext cx="4956048" cy="4178808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spcAft>
                <a:spcPts val="400"/>
              </a:spcAft>
              <a:defRPr sz="1800">
                <a:solidFill>
                  <a:srgbClr val="2D2D2D"/>
                </a:solidFill>
                <a:latin typeface="Aptos"/>
              </a:defRPr>
            </a:pPr>
            <a:r>
              <a:t>Parte 1: preguntas tipo test sobre contenidos de la asignatura.</a:t>
            </a:r>
          </a:p>
          <a:p>
            <a:pPr>
              <a:spcAft>
                <a:spcPts val="400"/>
              </a:spcAft>
              <a:defRPr sz="1800">
                <a:solidFill>
                  <a:srgbClr val="2D2D2D"/>
                </a:solidFill>
                <a:latin typeface="Aptos"/>
              </a:defRPr>
            </a:pPr>
            <a:r>
              <a:t>Peso orientativo: 40 % de la nota final.</a:t>
            </a:r>
          </a:p>
          <a:p>
            <a:pPr>
              <a:spcAft>
                <a:spcPts val="400"/>
              </a:spcAft>
              <a:defRPr sz="1800">
                <a:solidFill>
                  <a:srgbClr val="2D2D2D"/>
                </a:solidFill>
                <a:latin typeface="Aptos"/>
              </a:defRPr>
            </a:pPr>
            <a:r>
              <a:t>Parte 2: ejercicio teórico-práctico de diseño y maquetación.</a:t>
            </a:r>
          </a:p>
          <a:p>
            <a:pPr>
              <a:spcAft>
                <a:spcPts val="400"/>
              </a:spcAft>
              <a:defRPr sz="1800">
                <a:solidFill>
                  <a:srgbClr val="2D2D2D"/>
                </a:solidFill>
                <a:latin typeface="Aptos"/>
              </a:defRPr>
            </a:pPr>
            <a:r>
              <a:t>Peso orientativo: 60 % de la nota final.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54496" y="1554480"/>
            <a:ext cx="5394960" cy="4892040"/>
          </a:xfrm>
          <a:prstGeom prst="roundRect">
            <a:avLst/>
          </a:prstGeom>
          <a:solidFill>
            <a:srgbClr val="F5F7FA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345936" y="1627632"/>
            <a:ext cx="5212080" cy="384048"/>
          </a:xfrm>
          <a:prstGeom prst="roundRect">
            <a:avLst/>
          </a:prstGeom>
          <a:solidFill>
            <a:srgbClr val="2257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700" b="1">
                <a:solidFill>
                  <a:srgbClr val="FFFFFF"/>
                </a:solidFill>
                <a:latin typeface="Aptos"/>
              </a:rPr>
              <a:t>Qué se espera del alumno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3952" y="2103120"/>
            <a:ext cx="4956048" cy="4178808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spcAft>
                <a:spcPts val="400"/>
              </a:spcAft>
              <a:defRPr sz="1800">
                <a:solidFill>
                  <a:srgbClr val="2D2D2D"/>
                </a:solidFill>
                <a:latin typeface="Aptos"/>
              </a:defRPr>
            </a:pPr>
            <a:r>
              <a:t>Buena interpretación del enunciado.</a:t>
            </a:r>
          </a:p>
          <a:p>
            <a:pPr>
              <a:spcAft>
                <a:spcPts val="400"/>
              </a:spcAft>
              <a:defRPr sz="1800">
                <a:solidFill>
                  <a:srgbClr val="2D2D2D"/>
                </a:solidFill>
                <a:latin typeface="Aptos"/>
              </a:defRPr>
            </a:pPr>
            <a:r>
              <a:t>Corrección técnica en HTML y CSS.</a:t>
            </a:r>
          </a:p>
          <a:p>
            <a:pPr>
              <a:spcAft>
                <a:spcPts val="400"/>
              </a:spcAft>
              <a:defRPr sz="1800">
                <a:solidFill>
                  <a:srgbClr val="2D2D2D"/>
                </a:solidFill>
                <a:latin typeface="Aptos"/>
              </a:defRPr>
            </a:pPr>
            <a:r>
              <a:t>Diseño limpio, ordenado y legible.</a:t>
            </a:r>
          </a:p>
          <a:p>
            <a:pPr>
              <a:spcAft>
                <a:spcPts val="400"/>
              </a:spcAft>
              <a:defRPr sz="1800">
                <a:solidFill>
                  <a:srgbClr val="2D2D2D"/>
                </a:solidFill>
                <a:latin typeface="Aptos"/>
              </a:defRPr>
            </a:pPr>
            <a:r>
              <a:t>Capacidad para justificar decisiones de accesibilidad o interacción cuando se pidan.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12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E67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5486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1274F"/>
                </a:solidFill>
                <a:latin typeface="Aptos Display"/>
              </a:rPr>
              <a:t>Parte tipo test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2578F"/>
                </a:solidFill>
                <a:latin typeface="Aptos"/>
              </a:rPr>
              <a:t>Preguntas breves con 4 opciones y una sola correcta.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0352" y="1554480"/>
            <a:ext cx="5394960" cy="4892040"/>
          </a:xfrm>
          <a:prstGeom prst="roundRect">
            <a:avLst/>
          </a:prstGeom>
          <a:solidFill>
            <a:srgbClr val="F5F7FA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1792" y="1627632"/>
            <a:ext cx="5212080" cy="384048"/>
          </a:xfrm>
          <a:prstGeom prst="roundRect">
            <a:avLst/>
          </a:prstGeom>
          <a:solidFill>
            <a:srgbClr val="2257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700" b="1">
                <a:solidFill>
                  <a:srgbClr val="FFFFFF"/>
                </a:solidFill>
                <a:latin typeface="Aptos"/>
              </a:rPr>
              <a:t>Qué puede entrar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103120"/>
            <a:ext cx="4956048" cy="4178808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spcAft>
                <a:spcPts val="400"/>
              </a:spcAft>
              <a:defRPr sz="1800">
                <a:solidFill>
                  <a:srgbClr val="2D2D2D"/>
                </a:solidFill>
                <a:latin typeface="Aptos"/>
              </a:defRPr>
            </a:pPr>
            <a:r>
              <a:t>HTML semántico y estructura de páginas.</a:t>
            </a:r>
          </a:p>
          <a:p>
            <a:pPr>
              <a:spcAft>
                <a:spcPts val="400"/>
              </a:spcAft>
              <a:defRPr sz="1800">
                <a:solidFill>
                  <a:srgbClr val="2D2D2D"/>
                </a:solidFill>
                <a:latin typeface="Aptos"/>
              </a:defRPr>
            </a:pPr>
            <a:r>
              <a:t>Selectores, cascada y especificidad en CSS.</a:t>
            </a:r>
          </a:p>
          <a:p>
            <a:pPr>
              <a:spcAft>
                <a:spcPts val="400"/>
              </a:spcAft>
              <a:defRPr sz="1800">
                <a:solidFill>
                  <a:srgbClr val="2D2D2D"/>
                </a:solidFill>
                <a:latin typeface="Aptos"/>
              </a:defRPr>
            </a:pPr>
            <a:r>
              <a:t>Modelo de cajas, display, position, flexbox y grid.</a:t>
            </a:r>
          </a:p>
          <a:p>
            <a:pPr>
              <a:spcAft>
                <a:spcPts val="400"/>
              </a:spcAft>
              <a:defRPr sz="1800">
                <a:solidFill>
                  <a:srgbClr val="2D2D2D"/>
                </a:solidFill>
                <a:latin typeface="Aptos"/>
              </a:defRPr>
            </a:pPr>
            <a:r>
              <a:t>Responsive design y media queries.</a:t>
            </a:r>
          </a:p>
          <a:p>
            <a:pPr>
              <a:spcAft>
                <a:spcPts val="400"/>
              </a:spcAft>
              <a:defRPr sz="1800">
                <a:solidFill>
                  <a:srgbClr val="2D2D2D"/>
                </a:solidFill>
                <a:latin typeface="Aptos"/>
              </a:defRPr>
            </a:pPr>
            <a:r>
              <a:t>Accesibilidad, usabilidad y diseño visual.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54496" y="1554480"/>
            <a:ext cx="5394960" cy="4892040"/>
          </a:xfrm>
          <a:prstGeom prst="roundRect">
            <a:avLst/>
          </a:prstGeom>
          <a:solidFill>
            <a:srgbClr val="F5F7FA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345936" y="1627632"/>
            <a:ext cx="5212080" cy="384048"/>
          </a:xfrm>
          <a:prstGeom prst="roundRect">
            <a:avLst/>
          </a:prstGeom>
          <a:solidFill>
            <a:srgbClr val="2257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700" b="1">
                <a:solidFill>
                  <a:srgbClr val="FFFFFF"/>
                </a:solidFill>
                <a:latin typeface="Aptos"/>
              </a:rPr>
              <a:t>Consejo de examen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3952" y="2103120"/>
            <a:ext cx="4956048" cy="4178808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spcAft>
                <a:spcPts val="400"/>
              </a:spcAft>
              <a:defRPr sz="1800">
                <a:solidFill>
                  <a:srgbClr val="2D2D2D"/>
                </a:solidFill>
                <a:latin typeface="Aptos"/>
              </a:defRPr>
            </a:pPr>
            <a:r>
              <a:t>Lee con cuidado propiedades parecidas.</a:t>
            </a:r>
          </a:p>
          <a:p>
            <a:pPr>
              <a:spcAft>
                <a:spcPts val="400"/>
              </a:spcAft>
              <a:defRPr sz="1800">
                <a:solidFill>
                  <a:srgbClr val="2D2D2D"/>
                </a:solidFill>
                <a:latin typeface="Aptos"/>
              </a:defRPr>
            </a:pPr>
            <a:r>
              <a:t>Distingue entre estructura HTML y presentación CSS.</a:t>
            </a:r>
          </a:p>
          <a:p>
            <a:pPr>
              <a:spcAft>
                <a:spcPts val="400"/>
              </a:spcAft>
              <a:defRPr sz="1800">
                <a:solidFill>
                  <a:srgbClr val="2D2D2D"/>
                </a:solidFill>
                <a:latin typeface="Aptos"/>
              </a:defRPr>
            </a:pPr>
            <a:r>
              <a:t>Repasa ejemplos típicos de flexbox y grid.</a:t>
            </a:r>
          </a:p>
          <a:p>
            <a:pPr>
              <a:spcAft>
                <a:spcPts val="400"/>
              </a:spcAft>
              <a:defRPr sz="1800">
                <a:solidFill>
                  <a:srgbClr val="2D2D2D"/>
                </a:solidFill>
                <a:latin typeface="Aptos"/>
              </a:defRPr>
            </a:pPr>
            <a:r>
              <a:t>Fíjate en preguntas sobre contraste, foco y navegación accesible.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12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E67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5486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1274F"/>
                </a:solidFill>
                <a:latin typeface="Aptos Display"/>
              </a:rPr>
              <a:t>Ejemplo de pregunta tipo test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2578F"/>
                </a:solidFill>
                <a:latin typeface="Aptos"/>
              </a:rPr>
              <a:t>Modelo parecido al que podrían encontrar en el examen.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54480"/>
            <a:ext cx="11064240" cy="4892040"/>
          </a:xfrm>
          <a:prstGeom prst="roundRect">
            <a:avLst/>
          </a:prstGeom>
          <a:solidFill>
            <a:srgbClr val="F5F7FA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627632"/>
            <a:ext cx="10881360" cy="384048"/>
          </a:xfrm>
          <a:prstGeom prst="roundRect">
            <a:avLst/>
          </a:prstGeom>
          <a:solidFill>
            <a:srgbClr val="2257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700" b="1">
                <a:solidFill>
                  <a:srgbClr val="FFFFFF"/>
                </a:solidFill>
                <a:latin typeface="Aptos"/>
              </a:rPr>
              <a:t>Ejemplo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" y="2103120"/>
            <a:ext cx="10625328" cy="4178808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spcAft>
                <a:spcPts val="400"/>
              </a:spcAft>
              <a:defRPr sz="2000">
                <a:solidFill>
                  <a:srgbClr val="2D2D2D"/>
                </a:solidFill>
                <a:latin typeface="Aptos"/>
              </a:defRPr>
            </a:pPr>
            <a:r>
              <a:t>¿Qué propiedad de CSS se utiliza habitualmente para distribuir elementos en una sola dimensión y alinear su contenido con facilidad?</a:t>
            </a:r>
          </a:p>
          <a:p>
            <a:pPr>
              <a:spcAft>
                <a:spcPts val="400"/>
              </a:spcAft>
              <a:defRPr sz="2000">
                <a:solidFill>
                  <a:srgbClr val="2D2D2D"/>
                </a:solidFill>
                <a:latin typeface="Aptos"/>
              </a:defRPr>
            </a:pPr>
            <a:r>
              <a:t>a) grid-template-columns</a:t>
            </a:r>
          </a:p>
          <a:p>
            <a:pPr>
              <a:spcAft>
                <a:spcPts val="400"/>
              </a:spcAft>
              <a:defRPr sz="2000">
                <a:solidFill>
                  <a:srgbClr val="2D2D2D"/>
                </a:solidFill>
                <a:latin typeface="Aptos"/>
              </a:defRPr>
            </a:pPr>
            <a:r>
              <a:t>b) justify-items</a:t>
            </a:r>
          </a:p>
          <a:p>
            <a:pPr>
              <a:spcAft>
                <a:spcPts val="400"/>
              </a:spcAft>
              <a:defRPr sz="2000">
                <a:solidFill>
                  <a:srgbClr val="2D2D2D"/>
                </a:solidFill>
                <a:latin typeface="Aptos"/>
              </a:defRPr>
            </a:pPr>
            <a:r>
              <a:t>c) display: flex</a:t>
            </a:r>
          </a:p>
          <a:p>
            <a:pPr>
              <a:spcAft>
                <a:spcPts val="400"/>
              </a:spcAft>
              <a:defRPr sz="2000">
                <a:solidFill>
                  <a:srgbClr val="2D2D2D"/>
                </a:solidFill>
                <a:latin typeface="Aptos"/>
              </a:defRPr>
            </a:pPr>
            <a:r>
              <a:t>d) position: absolute</a:t>
            </a:r>
          </a:p>
          <a:p>
            <a:pPr>
              <a:spcAft>
                <a:spcPts val="400"/>
              </a:spcAft>
              <a:defRPr sz="2000">
                <a:solidFill>
                  <a:srgbClr val="2D2D2D"/>
                </a:solidFill>
                <a:latin typeface="Aptos"/>
              </a:defRPr>
            </a:pPr>
            <a:r>
              <a:t>Respuesta correcta: c) display: flex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12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E67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5486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1274F"/>
                </a:solidFill>
                <a:latin typeface="Aptos Display"/>
              </a:rPr>
              <a:t>Parte práctica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2578F"/>
                </a:solidFill>
                <a:latin typeface="Aptos"/>
              </a:rPr>
              <a:t>La práctica puede plantearse de dos maneras distintas.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0352" y="1554480"/>
            <a:ext cx="5394960" cy="4892040"/>
          </a:xfrm>
          <a:prstGeom prst="roundRect">
            <a:avLst/>
          </a:prstGeom>
          <a:solidFill>
            <a:srgbClr val="F5F7FA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1792" y="1627632"/>
            <a:ext cx="5212080" cy="384048"/>
          </a:xfrm>
          <a:prstGeom prst="roundRect">
            <a:avLst/>
          </a:prstGeom>
          <a:solidFill>
            <a:srgbClr val="2257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700" b="1">
                <a:solidFill>
                  <a:srgbClr val="FFFFFF"/>
                </a:solidFill>
                <a:latin typeface="Aptos"/>
              </a:rPr>
              <a:t>Opción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103120"/>
            <a:ext cx="4956048" cy="4178808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spcAft>
                <a:spcPts val="400"/>
              </a:spcAft>
              <a:defRPr sz="1800">
                <a:solidFill>
                  <a:srgbClr val="2D2D2D"/>
                </a:solidFill>
                <a:latin typeface="Aptos"/>
              </a:defRPr>
            </a:pPr>
            <a:r>
              <a:t>Se da un enunciado para construir una pequeña página web.</a:t>
            </a:r>
          </a:p>
          <a:p>
            <a:pPr>
              <a:spcAft>
                <a:spcPts val="400"/>
              </a:spcAft>
              <a:defRPr sz="1800">
                <a:solidFill>
                  <a:srgbClr val="2D2D2D"/>
                </a:solidFill>
                <a:latin typeface="Aptos"/>
              </a:defRPr>
            </a:pPr>
            <a:r>
              <a:t>El alumno crea tanto el HTML como el CSS.</a:t>
            </a:r>
          </a:p>
          <a:p>
            <a:pPr>
              <a:spcAft>
                <a:spcPts val="400"/>
              </a:spcAft>
              <a:defRPr sz="1800">
                <a:solidFill>
                  <a:srgbClr val="2D2D2D"/>
                </a:solidFill>
                <a:latin typeface="Aptos"/>
              </a:defRPr>
            </a:pPr>
            <a:r>
              <a:t>Suele pedirse una cabecera, un bloque principal y varias secciones.</a:t>
            </a:r>
          </a:p>
          <a:p>
            <a:pPr>
              <a:spcAft>
                <a:spcPts val="400"/>
              </a:spcAft>
              <a:defRPr sz="1800">
                <a:solidFill>
                  <a:srgbClr val="2D2D2D"/>
                </a:solidFill>
                <a:latin typeface="Aptos"/>
              </a:defRPr>
            </a:pPr>
            <a:r>
              <a:t>También puede pedirse adaptación responsive básica.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54496" y="1554480"/>
            <a:ext cx="5394960" cy="4892040"/>
          </a:xfrm>
          <a:prstGeom prst="roundRect">
            <a:avLst/>
          </a:prstGeom>
          <a:solidFill>
            <a:srgbClr val="F5F7FA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345936" y="1627632"/>
            <a:ext cx="5212080" cy="384048"/>
          </a:xfrm>
          <a:prstGeom prst="roundRect">
            <a:avLst/>
          </a:prstGeom>
          <a:solidFill>
            <a:srgbClr val="2257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700" b="1">
                <a:solidFill>
                  <a:srgbClr val="FFFFFF"/>
                </a:solidFill>
                <a:latin typeface="Aptos"/>
              </a:rPr>
              <a:t>Opción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3952" y="2103120"/>
            <a:ext cx="4956048" cy="4178808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spcAft>
                <a:spcPts val="400"/>
              </a:spcAft>
              <a:defRPr sz="1800">
                <a:solidFill>
                  <a:srgbClr val="2D2D2D"/>
                </a:solidFill>
                <a:latin typeface="Aptos"/>
              </a:defRPr>
            </a:pPr>
            <a:r>
              <a:t>Se entrega el HTML ya hecho.</a:t>
            </a:r>
          </a:p>
          <a:p>
            <a:pPr>
              <a:spcAft>
                <a:spcPts val="400"/>
              </a:spcAft>
              <a:defRPr sz="1800">
                <a:solidFill>
                  <a:srgbClr val="2D2D2D"/>
                </a:solidFill>
                <a:latin typeface="Aptos"/>
              </a:defRPr>
            </a:pPr>
            <a:r>
              <a:t>El alumno debe desarrollar solo la hoja de estilos CSS.</a:t>
            </a:r>
          </a:p>
          <a:p>
            <a:pPr>
              <a:spcAft>
                <a:spcPts val="400"/>
              </a:spcAft>
              <a:defRPr sz="1800">
                <a:solidFill>
                  <a:srgbClr val="2D2D2D"/>
                </a:solidFill>
                <a:latin typeface="Aptos"/>
              </a:defRPr>
            </a:pPr>
            <a:r>
              <a:t>La dificultad está en interpretar la estructura existente.</a:t>
            </a:r>
          </a:p>
          <a:p>
            <a:pPr>
              <a:spcAft>
                <a:spcPts val="400"/>
              </a:spcAft>
              <a:defRPr sz="1800">
                <a:solidFill>
                  <a:srgbClr val="2D2D2D"/>
                </a:solidFill>
                <a:latin typeface="Aptos"/>
              </a:defRPr>
            </a:pPr>
            <a:r>
              <a:t>Se valora la maquetación, la jerarquía visual y la limpieza del CSS.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12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E67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5486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1274F"/>
                </a:solidFill>
                <a:latin typeface="Aptos Display"/>
              </a:rPr>
              <a:t>Qué se valora en la parte práctica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2578F"/>
                </a:solidFill>
                <a:latin typeface="Aptos"/>
              </a:rPr>
              <a:t>Más allá de que la página “funcione”, importa cómo está construida.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0352" y="1554480"/>
            <a:ext cx="5394960" cy="4892040"/>
          </a:xfrm>
          <a:prstGeom prst="roundRect">
            <a:avLst/>
          </a:prstGeom>
          <a:solidFill>
            <a:srgbClr val="F5F7FA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1792" y="1627632"/>
            <a:ext cx="5212080" cy="384048"/>
          </a:xfrm>
          <a:prstGeom prst="roundRect">
            <a:avLst/>
          </a:prstGeom>
          <a:solidFill>
            <a:srgbClr val="2257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700" b="1">
                <a:solidFill>
                  <a:srgbClr val="FFFFFF"/>
                </a:solidFill>
                <a:latin typeface="Aptos"/>
              </a:rPr>
              <a:t>Aspectos técnicos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103120"/>
            <a:ext cx="4956048" cy="4178808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spcAft>
                <a:spcPts val="400"/>
              </a:spcAft>
              <a:defRPr sz="1800">
                <a:solidFill>
                  <a:srgbClr val="2D2D2D"/>
                </a:solidFill>
                <a:latin typeface="Aptos"/>
              </a:defRPr>
            </a:pPr>
            <a:r>
              <a:t>HTML semántico y bien anidado.</a:t>
            </a:r>
          </a:p>
          <a:p>
            <a:pPr>
              <a:spcAft>
                <a:spcPts val="400"/>
              </a:spcAft>
              <a:defRPr sz="1800">
                <a:solidFill>
                  <a:srgbClr val="2D2D2D"/>
                </a:solidFill>
                <a:latin typeface="Aptos"/>
              </a:defRPr>
            </a:pPr>
            <a:r>
              <a:t>CSS ordenado, coherente y sin redundancias.</a:t>
            </a:r>
          </a:p>
          <a:p>
            <a:pPr>
              <a:spcAft>
                <a:spcPts val="400"/>
              </a:spcAft>
              <a:defRPr sz="1800">
                <a:solidFill>
                  <a:srgbClr val="2D2D2D"/>
                </a:solidFill>
                <a:latin typeface="Aptos"/>
              </a:defRPr>
            </a:pPr>
            <a:r>
              <a:t>Buen uso de clases, selectores y propiedades.</a:t>
            </a:r>
          </a:p>
          <a:p>
            <a:pPr>
              <a:spcAft>
                <a:spcPts val="400"/>
              </a:spcAft>
              <a:defRPr sz="1800">
                <a:solidFill>
                  <a:srgbClr val="2D2D2D"/>
                </a:solidFill>
                <a:latin typeface="Aptos"/>
              </a:defRPr>
            </a:pPr>
            <a:r>
              <a:t>Distribución correcta con flexbox, grid o ambos.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54496" y="1554480"/>
            <a:ext cx="5394960" cy="4892040"/>
          </a:xfrm>
          <a:prstGeom prst="roundRect">
            <a:avLst/>
          </a:prstGeom>
          <a:solidFill>
            <a:srgbClr val="F5F7FA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345936" y="1627632"/>
            <a:ext cx="5212080" cy="384048"/>
          </a:xfrm>
          <a:prstGeom prst="roundRect">
            <a:avLst/>
          </a:prstGeom>
          <a:solidFill>
            <a:srgbClr val="2257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700" b="1">
                <a:solidFill>
                  <a:srgbClr val="FFFFFF"/>
                </a:solidFill>
                <a:latin typeface="Aptos"/>
              </a:rPr>
              <a:t>Aspectos visuales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3952" y="2103120"/>
            <a:ext cx="4956048" cy="4178808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spcAft>
                <a:spcPts val="400"/>
              </a:spcAft>
              <a:defRPr sz="1800">
                <a:solidFill>
                  <a:srgbClr val="2D2D2D"/>
                </a:solidFill>
                <a:latin typeface="Aptos"/>
              </a:defRPr>
            </a:pPr>
            <a:r>
              <a:t>Jerarquía clara entre títulos, textos y botones.</a:t>
            </a:r>
          </a:p>
          <a:p>
            <a:pPr>
              <a:spcAft>
                <a:spcPts val="400"/>
              </a:spcAft>
              <a:defRPr sz="1800">
                <a:solidFill>
                  <a:srgbClr val="2D2D2D"/>
                </a:solidFill>
                <a:latin typeface="Aptos"/>
              </a:defRPr>
            </a:pPr>
            <a:r>
              <a:t>Espaciados equilibrados y alineaciones limpias.</a:t>
            </a:r>
          </a:p>
          <a:p>
            <a:pPr>
              <a:spcAft>
                <a:spcPts val="400"/>
              </a:spcAft>
              <a:defRPr sz="1800">
                <a:solidFill>
                  <a:srgbClr val="2D2D2D"/>
                </a:solidFill>
                <a:latin typeface="Aptos"/>
              </a:defRPr>
            </a:pPr>
            <a:r>
              <a:t>Contraste adecuado y lectura cómoda.</a:t>
            </a:r>
          </a:p>
          <a:p>
            <a:pPr>
              <a:spcAft>
                <a:spcPts val="400"/>
              </a:spcAft>
              <a:defRPr sz="1800">
                <a:solidFill>
                  <a:srgbClr val="2D2D2D"/>
                </a:solidFill>
                <a:latin typeface="Aptos"/>
              </a:defRPr>
            </a:pPr>
            <a:r>
              <a:t>Responsive razonable y comportamiento estable.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12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E67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5486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1274F"/>
                </a:solidFill>
                <a:latin typeface="Aptos Display"/>
              </a:rPr>
              <a:t>Ejemplo de práctica - opción 1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2578F"/>
                </a:solidFill>
                <a:latin typeface="Aptos"/>
              </a:rPr>
              <a:t>Caso en el que el alumno debe crear HTML y CSS.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0352" y="1554480"/>
            <a:ext cx="5394960" cy="4892040"/>
          </a:xfrm>
          <a:prstGeom prst="roundRect">
            <a:avLst/>
          </a:prstGeom>
          <a:solidFill>
            <a:srgbClr val="F5F7FA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1792" y="1627632"/>
            <a:ext cx="5212080" cy="384048"/>
          </a:xfrm>
          <a:prstGeom prst="roundRect">
            <a:avLst/>
          </a:prstGeom>
          <a:solidFill>
            <a:srgbClr val="2257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700" b="1">
                <a:solidFill>
                  <a:srgbClr val="FFFFFF"/>
                </a:solidFill>
                <a:latin typeface="Aptos"/>
              </a:rPr>
              <a:t>Enunciado de ejemplo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103120"/>
            <a:ext cx="4956048" cy="4178808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spcAft>
                <a:spcPts val="400"/>
              </a:spcAft>
              <a:defRPr sz="1800">
                <a:solidFill>
                  <a:srgbClr val="2D2D2D"/>
                </a:solidFill>
                <a:latin typeface="Aptos"/>
              </a:defRPr>
            </a:pPr>
            <a:r>
              <a:t>Diseña una landing page para una academia online.</a:t>
            </a:r>
          </a:p>
          <a:p>
            <a:pPr>
              <a:spcAft>
                <a:spcPts val="400"/>
              </a:spcAft>
              <a:defRPr sz="1800">
                <a:solidFill>
                  <a:srgbClr val="2D2D2D"/>
                </a:solidFill>
                <a:latin typeface="Aptos"/>
              </a:defRPr>
            </a:pPr>
            <a:r>
              <a:t>Debe incluir: cabecera con logotipo y menú, bloque hero con título, texto y botón, sección de cursos con 3 tarjetas y pie de página.</a:t>
            </a:r>
          </a:p>
          <a:p>
            <a:pPr>
              <a:spcAft>
                <a:spcPts val="400"/>
              </a:spcAft>
              <a:defRPr sz="1800">
                <a:solidFill>
                  <a:srgbClr val="2D2D2D"/>
                </a:solidFill>
                <a:latin typeface="Aptos"/>
              </a:defRPr>
            </a:pPr>
            <a:r>
              <a:t>Usa una paleta azul y blanca y una tipografía sans-serif.</a:t>
            </a:r>
          </a:p>
          <a:p>
            <a:pPr>
              <a:spcAft>
                <a:spcPts val="400"/>
              </a:spcAft>
              <a:defRPr sz="1800">
                <a:solidFill>
                  <a:srgbClr val="2D2D2D"/>
                </a:solidFill>
                <a:latin typeface="Aptos"/>
              </a:defRPr>
            </a:pPr>
            <a:r>
              <a:t>El diseño debe verse correctamente en escritorio y en móvil.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54496" y="1554480"/>
            <a:ext cx="5394960" cy="4892040"/>
          </a:xfrm>
          <a:prstGeom prst="roundRect">
            <a:avLst/>
          </a:prstGeom>
          <a:solidFill>
            <a:srgbClr val="F5F7FA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345936" y="1627632"/>
            <a:ext cx="5212080" cy="384048"/>
          </a:xfrm>
          <a:prstGeom prst="roundRect">
            <a:avLst/>
          </a:prstGeom>
          <a:solidFill>
            <a:srgbClr val="2257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700" b="1">
                <a:solidFill>
                  <a:srgbClr val="FFFFFF"/>
                </a:solidFill>
                <a:latin typeface="Aptos"/>
              </a:rPr>
              <a:t>Qué debería hacer el alumno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3952" y="2103120"/>
            <a:ext cx="4956048" cy="4178808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spcAft>
                <a:spcPts val="400"/>
              </a:spcAft>
              <a:defRPr sz="1800">
                <a:solidFill>
                  <a:srgbClr val="2D2D2D"/>
                </a:solidFill>
                <a:latin typeface="Aptos"/>
              </a:defRPr>
            </a:pPr>
            <a:r>
              <a:t>Crear el HTML de toda la página con estructura semántica.</a:t>
            </a:r>
          </a:p>
          <a:p>
            <a:pPr>
              <a:spcAft>
                <a:spcPts val="400"/>
              </a:spcAft>
              <a:defRPr sz="1800">
                <a:solidFill>
                  <a:srgbClr val="2D2D2D"/>
                </a:solidFill>
                <a:latin typeface="Aptos"/>
              </a:defRPr>
            </a:pPr>
            <a:r>
              <a:t>Aplicar CSS para la maquetación, el color y la tipografía.</a:t>
            </a:r>
          </a:p>
          <a:p>
            <a:pPr>
              <a:spcAft>
                <a:spcPts val="400"/>
              </a:spcAft>
              <a:defRPr sz="1800">
                <a:solidFill>
                  <a:srgbClr val="2D2D2D"/>
                </a:solidFill>
                <a:latin typeface="Aptos"/>
              </a:defRPr>
            </a:pPr>
            <a:r>
              <a:t>Dar protagonismo al bloque principal y al botón de llamada a la acción.</a:t>
            </a:r>
          </a:p>
          <a:p>
            <a:pPr>
              <a:spcAft>
                <a:spcPts val="400"/>
              </a:spcAft>
              <a:defRPr sz="1800">
                <a:solidFill>
                  <a:srgbClr val="2D2D2D"/>
                </a:solidFill>
                <a:latin typeface="Aptos"/>
              </a:defRPr>
            </a:pPr>
            <a:r>
              <a:t>Mantener coherencia entre tarjetas, bloques y espaciados.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12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E67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5486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1274F"/>
                </a:solidFill>
                <a:latin typeface="Aptos Display"/>
              </a:rPr>
              <a:t>Ejemplo de práctica - opción 2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2578F"/>
                </a:solidFill>
                <a:latin typeface="Aptos"/>
              </a:rPr>
              <a:t>Caso en el que el HTML ya viene dado.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0352" y="1554480"/>
            <a:ext cx="5394960" cy="4892040"/>
          </a:xfrm>
          <a:prstGeom prst="roundRect">
            <a:avLst/>
          </a:prstGeom>
          <a:solidFill>
            <a:srgbClr val="F5F7FA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1792" y="1627632"/>
            <a:ext cx="5212080" cy="384048"/>
          </a:xfrm>
          <a:prstGeom prst="roundRect">
            <a:avLst/>
          </a:prstGeom>
          <a:solidFill>
            <a:srgbClr val="2257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700" b="1">
                <a:solidFill>
                  <a:srgbClr val="FFFFFF"/>
                </a:solidFill>
                <a:latin typeface="Aptos"/>
              </a:rPr>
              <a:t>Enunciado de ejemplo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103120"/>
            <a:ext cx="4956048" cy="4178808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spcAft>
                <a:spcPts val="400"/>
              </a:spcAft>
              <a:defRPr sz="1800">
                <a:solidFill>
                  <a:srgbClr val="2D2D2D"/>
                </a:solidFill>
                <a:latin typeface="Aptos"/>
              </a:defRPr>
            </a:pPr>
            <a:r>
              <a:t>Se proporciona un HTML con header, main, artículos y footer.</a:t>
            </a:r>
          </a:p>
          <a:p>
            <a:pPr>
              <a:spcAft>
                <a:spcPts val="400"/>
              </a:spcAft>
              <a:defRPr sz="1800">
                <a:solidFill>
                  <a:srgbClr val="2D2D2D"/>
                </a:solidFill>
                <a:latin typeface="Aptos"/>
              </a:defRPr>
            </a:pPr>
            <a:r>
              <a:t>Debes crear una hoja CSS para convertirlo en una página de noticias limpia y responsive.</a:t>
            </a:r>
          </a:p>
          <a:p>
            <a:pPr>
              <a:spcAft>
                <a:spcPts val="400"/>
              </a:spcAft>
              <a:defRPr sz="1800">
                <a:solidFill>
                  <a:srgbClr val="2D2D2D"/>
                </a:solidFill>
                <a:latin typeface="Aptos"/>
              </a:defRPr>
            </a:pPr>
            <a:r>
              <a:t>Las noticias deben verse en 3 columnas en escritorio y en 1 columna en móvil.</a:t>
            </a:r>
          </a:p>
          <a:p>
            <a:pPr>
              <a:spcAft>
                <a:spcPts val="400"/>
              </a:spcAft>
              <a:defRPr sz="1800">
                <a:solidFill>
                  <a:srgbClr val="2D2D2D"/>
                </a:solidFill>
                <a:latin typeface="Aptos"/>
              </a:defRPr>
            </a:pPr>
            <a:r>
              <a:t>La navegación debe tener hover visible y la noticia destacada debe resaltar claramente.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54496" y="1554480"/>
            <a:ext cx="5394960" cy="4892040"/>
          </a:xfrm>
          <a:prstGeom prst="roundRect">
            <a:avLst/>
          </a:prstGeom>
          <a:solidFill>
            <a:srgbClr val="F5F7FA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345936" y="1627632"/>
            <a:ext cx="5212080" cy="384048"/>
          </a:xfrm>
          <a:prstGeom prst="roundRect">
            <a:avLst/>
          </a:prstGeom>
          <a:solidFill>
            <a:srgbClr val="2257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700" b="1">
                <a:solidFill>
                  <a:srgbClr val="FFFFFF"/>
                </a:solidFill>
                <a:latin typeface="Aptos"/>
              </a:rPr>
              <a:t>Qué debería demostrar el alumno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3952" y="2103120"/>
            <a:ext cx="4956048" cy="4178808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spcAft>
                <a:spcPts val="400"/>
              </a:spcAft>
              <a:defRPr sz="1800">
                <a:solidFill>
                  <a:srgbClr val="2D2D2D"/>
                </a:solidFill>
                <a:latin typeface="Aptos"/>
              </a:defRPr>
            </a:pPr>
            <a:r>
              <a:t>Dominio de grid o flexbox según convenga.</a:t>
            </a:r>
          </a:p>
          <a:p>
            <a:pPr>
              <a:spcAft>
                <a:spcPts val="400"/>
              </a:spcAft>
              <a:defRPr sz="1800">
                <a:solidFill>
                  <a:srgbClr val="2D2D2D"/>
                </a:solidFill>
                <a:latin typeface="Aptos"/>
              </a:defRPr>
            </a:pPr>
            <a:r>
              <a:t>Capacidad para interpretar clases y estructura dadas.</a:t>
            </a:r>
          </a:p>
          <a:p>
            <a:pPr>
              <a:spcAft>
                <a:spcPts val="400"/>
              </a:spcAft>
              <a:defRPr sz="1800">
                <a:solidFill>
                  <a:srgbClr val="2D2D2D"/>
                </a:solidFill>
                <a:latin typeface="Aptos"/>
              </a:defRPr>
            </a:pPr>
            <a:r>
              <a:t>Elección correcta de tamaños, márgenes, padding y alineación.</a:t>
            </a:r>
          </a:p>
          <a:p>
            <a:pPr>
              <a:spcAft>
                <a:spcPts val="400"/>
              </a:spcAft>
              <a:defRPr sz="1800">
                <a:solidFill>
                  <a:srgbClr val="2D2D2D"/>
                </a:solidFill>
                <a:latin typeface="Aptos"/>
              </a:defRPr>
            </a:pPr>
            <a:r>
              <a:t>Resultado visual claro, profesional y fácil de usar.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12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E67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5486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1274F"/>
                </a:solidFill>
                <a:latin typeface="Aptos Display"/>
              </a:rPr>
              <a:t>Apartados teóricos dentro de la práctica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2578F"/>
                </a:solidFill>
                <a:latin typeface="Aptos"/>
              </a:rPr>
              <a:t>Puede aparecer una pequeña pregunta de reflexión técnica.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0352" y="1554480"/>
            <a:ext cx="5394960" cy="4892040"/>
          </a:xfrm>
          <a:prstGeom prst="roundRect">
            <a:avLst/>
          </a:prstGeom>
          <a:solidFill>
            <a:srgbClr val="F5F7FA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1792" y="1627632"/>
            <a:ext cx="5212080" cy="384048"/>
          </a:xfrm>
          <a:prstGeom prst="roundRect">
            <a:avLst/>
          </a:prstGeom>
          <a:solidFill>
            <a:srgbClr val="2257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700" b="1">
                <a:solidFill>
                  <a:srgbClr val="FFFFFF"/>
                </a:solidFill>
                <a:latin typeface="Aptos"/>
              </a:rPr>
              <a:t>Qué pueden preguntar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103120"/>
            <a:ext cx="4956048" cy="4178808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spcAft>
                <a:spcPts val="400"/>
              </a:spcAft>
              <a:defRPr sz="1800">
                <a:solidFill>
                  <a:srgbClr val="2D2D2D"/>
                </a:solidFill>
                <a:latin typeface="Aptos"/>
              </a:defRPr>
            </a:pPr>
            <a:r>
              <a:t>¿Qué mejoras de accesibilidad aplicarías a esta interfaz?</a:t>
            </a:r>
          </a:p>
          <a:p>
            <a:pPr>
              <a:spcAft>
                <a:spcPts val="400"/>
              </a:spcAft>
              <a:defRPr sz="1800">
                <a:solidFill>
                  <a:srgbClr val="2D2D2D"/>
                </a:solidFill>
                <a:latin typeface="Aptos"/>
              </a:defRPr>
            </a:pPr>
            <a:r>
              <a:t>¿Qué detalles interactivos añadirías para mejorar la experiencia de usuario?</a:t>
            </a:r>
          </a:p>
          <a:p>
            <a:pPr>
              <a:spcAft>
                <a:spcPts val="400"/>
              </a:spcAft>
              <a:defRPr sz="1800">
                <a:solidFill>
                  <a:srgbClr val="2D2D2D"/>
                </a:solidFill>
                <a:latin typeface="Aptos"/>
              </a:defRPr>
            </a:pPr>
            <a:r>
              <a:t>¿Cómo harías la página más usable o más responsive?</a:t>
            </a:r>
          </a:p>
          <a:p>
            <a:pPr>
              <a:spcAft>
                <a:spcPts val="400"/>
              </a:spcAft>
              <a:defRPr sz="1800">
                <a:solidFill>
                  <a:srgbClr val="2D2D2D"/>
                </a:solidFill>
                <a:latin typeface="Aptos"/>
              </a:defRPr>
            </a:pPr>
            <a:r>
              <a:t>¿Qué cambios harías para reforzar la jerarquía visual?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54496" y="1554480"/>
            <a:ext cx="5394960" cy="4892040"/>
          </a:xfrm>
          <a:prstGeom prst="roundRect">
            <a:avLst/>
          </a:prstGeom>
          <a:solidFill>
            <a:srgbClr val="F5F7FA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345936" y="1627632"/>
            <a:ext cx="5212080" cy="384048"/>
          </a:xfrm>
          <a:prstGeom prst="roundRect">
            <a:avLst/>
          </a:prstGeom>
          <a:solidFill>
            <a:srgbClr val="2257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700" b="1">
                <a:solidFill>
                  <a:srgbClr val="FFFFFF"/>
                </a:solidFill>
                <a:latin typeface="Aptos"/>
              </a:rPr>
              <a:t>Qué conviene responder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3952" y="2103120"/>
            <a:ext cx="4956048" cy="4178808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spcAft>
                <a:spcPts val="400"/>
              </a:spcAft>
              <a:defRPr sz="1800">
                <a:solidFill>
                  <a:srgbClr val="2D2D2D"/>
                </a:solidFill>
                <a:latin typeface="Aptos"/>
              </a:defRPr>
            </a:pPr>
            <a:r>
              <a:t>Mejorar contraste, tamaño de texto y foco visible.</a:t>
            </a:r>
          </a:p>
          <a:p>
            <a:pPr>
              <a:spcAft>
                <a:spcPts val="400"/>
              </a:spcAft>
              <a:defRPr sz="1800">
                <a:solidFill>
                  <a:srgbClr val="2D2D2D"/>
                </a:solidFill>
                <a:latin typeface="Aptos"/>
              </a:defRPr>
            </a:pPr>
            <a:r>
              <a:t>Usar etiquetas semánticas y textos alternativos en imágenes.</a:t>
            </a:r>
          </a:p>
          <a:p>
            <a:pPr>
              <a:spcAft>
                <a:spcPts val="400"/>
              </a:spcAft>
              <a:defRPr sz="1800">
                <a:solidFill>
                  <a:srgbClr val="2D2D2D"/>
                </a:solidFill>
                <a:latin typeface="Aptos"/>
              </a:defRPr>
            </a:pPr>
            <a:r>
              <a:t>Añadir hover, active, transiciones suaves o validación visual.</a:t>
            </a:r>
          </a:p>
          <a:p>
            <a:pPr>
              <a:spcAft>
                <a:spcPts val="400"/>
              </a:spcAft>
              <a:defRPr sz="1800">
                <a:solidFill>
                  <a:srgbClr val="2D2D2D"/>
                </a:solidFill>
                <a:latin typeface="Aptos"/>
              </a:defRPr>
            </a:pPr>
            <a:r>
              <a:t>Mejorar consistencia de botones, enlaces, formularios y separación entre secciones.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12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E67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5486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1274F"/>
                </a:solidFill>
                <a:latin typeface="Aptos Display"/>
              </a:rPr>
              <a:t>Posibles preguntas teóricas - bloque 1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2578F"/>
                </a:solidFill>
                <a:latin typeface="Aptos"/>
              </a:rPr>
              <a:t>Contenidos de estructura, HTML y fundamentos de diseño.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54480"/>
            <a:ext cx="11064240" cy="4892040"/>
          </a:xfrm>
          <a:prstGeom prst="roundRect">
            <a:avLst/>
          </a:prstGeom>
          <a:solidFill>
            <a:srgbClr val="F5F7FA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627632"/>
            <a:ext cx="10881360" cy="384048"/>
          </a:xfrm>
          <a:prstGeom prst="roundRect">
            <a:avLst/>
          </a:prstGeom>
          <a:solidFill>
            <a:srgbClr val="2257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700" b="1">
                <a:solidFill>
                  <a:srgbClr val="FFFFFF"/>
                </a:solidFill>
                <a:latin typeface="Aptos"/>
              </a:rPr>
              <a:t>Preguntas posibles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" y="2103120"/>
            <a:ext cx="10625328" cy="4178808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spcAft>
                <a:spcPts val="400"/>
              </a:spcAft>
              <a:defRPr sz="1900">
                <a:solidFill>
                  <a:srgbClr val="2D2D2D"/>
                </a:solidFill>
                <a:latin typeface="Aptos"/>
              </a:defRPr>
            </a:pPr>
            <a:r>
              <a:t>Define qué es una interfaz web y qué objetivos debe cumplir.</a:t>
            </a:r>
          </a:p>
          <a:p>
            <a:pPr>
              <a:spcAft>
                <a:spcPts val="400"/>
              </a:spcAft>
              <a:defRPr sz="1900">
                <a:solidFill>
                  <a:srgbClr val="2D2D2D"/>
                </a:solidFill>
                <a:latin typeface="Aptos"/>
              </a:defRPr>
            </a:pPr>
            <a:r>
              <a:t>Explica la diferencia entre contenido, estructura y presentación.</a:t>
            </a:r>
          </a:p>
          <a:p>
            <a:pPr>
              <a:spcAft>
                <a:spcPts val="400"/>
              </a:spcAft>
              <a:defRPr sz="1900">
                <a:solidFill>
                  <a:srgbClr val="2D2D2D"/>
                </a:solidFill>
                <a:latin typeface="Aptos"/>
              </a:defRPr>
            </a:pPr>
            <a:r>
              <a:t>¿Qué ventajas aporta el uso de etiquetas semánticas en HTML?</a:t>
            </a:r>
          </a:p>
          <a:p>
            <a:pPr>
              <a:spcAft>
                <a:spcPts val="400"/>
              </a:spcAft>
              <a:defRPr sz="1900">
                <a:solidFill>
                  <a:srgbClr val="2D2D2D"/>
                </a:solidFill>
                <a:latin typeface="Aptos"/>
              </a:defRPr>
            </a:pPr>
            <a:r>
              <a:t>¿Cómo organizarías correctamente una página con header, nav, main, section, article y footer?</a:t>
            </a:r>
          </a:p>
          <a:p>
            <a:pPr>
              <a:spcAft>
                <a:spcPts val="400"/>
              </a:spcAft>
              <a:defRPr sz="1900">
                <a:solidFill>
                  <a:srgbClr val="2D2D2D"/>
                </a:solidFill>
                <a:latin typeface="Aptos"/>
              </a:defRPr>
            </a:pPr>
            <a:r>
              <a:t>Explica qué es la jerarquía visual y por qué ayuda al usuario.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12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E67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5486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1274F"/>
                </a:solidFill>
                <a:latin typeface="Aptos Display"/>
              </a:rPr>
              <a:t>Posibles preguntas teóricas - bloque 2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2578F"/>
                </a:solidFill>
                <a:latin typeface="Aptos"/>
              </a:rPr>
              <a:t>Contenidos de CSS, maquetación y diseño responsive.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54480"/>
            <a:ext cx="11064240" cy="4892040"/>
          </a:xfrm>
          <a:prstGeom prst="roundRect">
            <a:avLst/>
          </a:prstGeom>
          <a:solidFill>
            <a:srgbClr val="F5F7FA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627632"/>
            <a:ext cx="10881360" cy="384048"/>
          </a:xfrm>
          <a:prstGeom prst="roundRect">
            <a:avLst/>
          </a:prstGeom>
          <a:solidFill>
            <a:srgbClr val="2257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700" b="1">
                <a:solidFill>
                  <a:srgbClr val="FFFFFF"/>
                </a:solidFill>
                <a:latin typeface="Aptos"/>
              </a:rPr>
              <a:t>Preguntas posibles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" y="2103120"/>
            <a:ext cx="10625328" cy="4178808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spcAft>
                <a:spcPts val="400"/>
              </a:spcAft>
              <a:defRPr sz="1900">
                <a:solidFill>
                  <a:srgbClr val="2D2D2D"/>
                </a:solidFill>
                <a:latin typeface="Aptos"/>
              </a:defRPr>
            </a:pPr>
            <a:r>
              <a:t>Explica cómo funciona la cascada en CSS.</a:t>
            </a:r>
          </a:p>
          <a:p>
            <a:pPr>
              <a:spcAft>
                <a:spcPts val="400"/>
              </a:spcAft>
              <a:defRPr sz="1900">
                <a:solidFill>
                  <a:srgbClr val="2D2D2D"/>
                </a:solidFill>
                <a:latin typeface="Aptos"/>
              </a:defRPr>
            </a:pPr>
            <a:r>
              <a:t>Diferencia selector de etiqueta, clase e id.</a:t>
            </a:r>
          </a:p>
          <a:p>
            <a:pPr>
              <a:spcAft>
                <a:spcPts val="400"/>
              </a:spcAft>
              <a:defRPr sz="1900">
                <a:solidFill>
                  <a:srgbClr val="2D2D2D"/>
                </a:solidFill>
                <a:latin typeface="Aptos"/>
              </a:defRPr>
            </a:pPr>
            <a:r>
              <a:t>Define especificidad y pon un ejemplo sencillo.</a:t>
            </a:r>
          </a:p>
          <a:p>
            <a:pPr>
              <a:spcAft>
                <a:spcPts val="400"/>
              </a:spcAft>
              <a:defRPr sz="1900">
                <a:solidFill>
                  <a:srgbClr val="2D2D2D"/>
                </a:solidFill>
                <a:latin typeface="Aptos"/>
              </a:defRPr>
            </a:pPr>
            <a:r>
              <a:t>Diferencia flexbox y grid e indica cuándo conviene usar cada uno.</a:t>
            </a:r>
          </a:p>
          <a:p>
            <a:pPr>
              <a:spcAft>
                <a:spcPts val="400"/>
              </a:spcAft>
              <a:defRPr sz="1900">
                <a:solidFill>
                  <a:srgbClr val="2D2D2D"/>
                </a:solidFill>
                <a:latin typeface="Aptos"/>
              </a:defRPr>
            </a:pPr>
            <a:r>
              <a:t>Explica qué es el diseño responsive y cómo se aplican las media queries.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12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E67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5486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1274F"/>
                </a:solidFill>
                <a:latin typeface="Aptos Display"/>
              </a:rPr>
              <a:t>Posibles preguntas teóricas - bloque 3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2578F"/>
                </a:solidFill>
                <a:latin typeface="Aptos"/>
              </a:rPr>
              <a:t>Contenidos de accesibilidad, usabilidad e interacción.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54480"/>
            <a:ext cx="11064240" cy="4892040"/>
          </a:xfrm>
          <a:prstGeom prst="roundRect">
            <a:avLst/>
          </a:prstGeom>
          <a:solidFill>
            <a:srgbClr val="F5F7FA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627632"/>
            <a:ext cx="10881360" cy="384048"/>
          </a:xfrm>
          <a:prstGeom prst="roundRect">
            <a:avLst/>
          </a:prstGeom>
          <a:solidFill>
            <a:srgbClr val="2257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700" b="1">
                <a:solidFill>
                  <a:srgbClr val="FFFFFF"/>
                </a:solidFill>
                <a:latin typeface="Aptos"/>
              </a:rPr>
              <a:t>Preguntas posibles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" y="2103120"/>
            <a:ext cx="10625328" cy="4178808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spcAft>
                <a:spcPts val="400"/>
              </a:spcAft>
              <a:defRPr sz="1900">
                <a:solidFill>
                  <a:srgbClr val="2D2D2D"/>
                </a:solidFill>
                <a:latin typeface="Aptos"/>
              </a:defRPr>
            </a:pPr>
            <a:r>
              <a:t>Indica varias medidas para mejorar la accesibilidad de una web.</a:t>
            </a:r>
          </a:p>
          <a:p>
            <a:pPr>
              <a:spcAft>
                <a:spcPts val="400"/>
              </a:spcAft>
              <a:defRPr sz="1900">
                <a:solidFill>
                  <a:srgbClr val="2D2D2D"/>
                </a:solidFill>
                <a:latin typeface="Aptos"/>
              </a:defRPr>
            </a:pPr>
            <a:r>
              <a:t>Explica la importancia del contraste, del tamaño de letra y de la navegación por teclado.</a:t>
            </a:r>
          </a:p>
          <a:p>
            <a:pPr>
              <a:spcAft>
                <a:spcPts val="400"/>
              </a:spcAft>
              <a:defRPr sz="1900">
                <a:solidFill>
                  <a:srgbClr val="2D2D2D"/>
                </a:solidFill>
                <a:latin typeface="Aptos"/>
              </a:defRPr>
            </a:pPr>
            <a:r>
              <a:t>¿Qué papel tienen los textos alternativos y las etiquetas de formulario?</a:t>
            </a:r>
          </a:p>
          <a:p>
            <a:pPr>
              <a:spcAft>
                <a:spcPts val="400"/>
              </a:spcAft>
              <a:defRPr sz="1900">
                <a:solidFill>
                  <a:srgbClr val="2D2D2D"/>
                </a:solidFill>
                <a:latin typeface="Aptos"/>
              </a:defRPr>
            </a:pPr>
            <a:r>
              <a:t>¿Qué elementos interactivos mejorarían la experiencia de usuario en una interfaz sencilla?</a:t>
            </a:r>
          </a:p>
          <a:p>
            <a:pPr>
              <a:spcAft>
                <a:spcPts val="400"/>
              </a:spcAft>
              <a:defRPr sz="1900">
                <a:solidFill>
                  <a:srgbClr val="2D2D2D"/>
                </a:solidFill>
                <a:latin typeface="Aptos"/>
              </a:defRPr>
            </a:pPr>
            <a:r>
              <a:t>Relaciona accesibilidad, usabilidad y experiencia de usuario.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12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E67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5486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1274F"/>
                </a:solidFill>
                <a:latin typeface="Aptos Display"/>
              </a:rPr>
              <a:t>Cómo enfocar la práctica el día del examen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2578F"/>
                </a:solidFill>
                <a:latin typeface="Aptos"/>
              </a:rPr>
              <a:t>Una buena estrategia ayuda mucho más que improvisar.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0352" y="1554480"/>
            <a:ext cx="5394960" cy="4892040"/>
          </a:xfrm>
          <a:prstGeom prst="roundRect">
            <a:avLst/>
          </a:prstGeom>
          <a:solidFill>
            <a:srgbClr val="F5F7FA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1792" y="1627632"/>
            <a:ext cx="5212080" cy="384048"/>
          </a:xfrm>
          <a:prstGeom prst="roundRect">
            <a:avLst/>
          </a:prstGeom>
          <a:solidFill>
            <a:srgbClr val="2257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700" b="1">
                <a:solidFill>
                  <a:srgbClr val="FFFFFF"/>
                </a:solidFill>
                <a:latin typeface="Aptos"/>
              </a:rPr>
              <a:t>Orden recomendado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103120"/>
            <a:ext cx="4956048" cy="4178808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spcAft>
                <a:spcPts val="400"/>
              </a:spcAft>
              <a:defRPr sz="1800">
                <a:solidFill>
                  <a:srgbClr val="2D2D2D"/>
                </a:solidFill>
                <a:latin typeface="Aptos"/>
              </a:defRPr>
            </a:pPr>
            <a:r>
              <a:t>Lee primero todo el enunciado.</a:t>
            </a:r>
          </a:p>
          <a:p>
            <a:pPr>
              <a:spcAft>
                <a:spcPts val="400"/>
              </a:spcAft>
              <a:defRPr sz="1800">
                <a:solidFill>
                  <a:srgbClr val="2D2D2D"/>
                </a:solidFill>
                <a:latin typeface="Aptos"/>
              </a:defRPr>
            </a:pPr>
            <a:r>
              <a:t>Detecta qué elementos son obligatorios.</a:t>
            </a:r>
          </a:p>
          <a:p>
            <a:pPr>
              <a:spcAft>
                <a:spcPts val="400"/>
              </a:spcAft>
              <a:defRPr sz="1800">
                <a:solidFill>
                  <a:srgbClr val="2D2D2D"/>
                </a:solidFill>
                <a:latin typeface="Aptos"/>
              </a:defRPr>
            </a:pPr>
            <a:r>
              <a:t>Empieza por la estructura general.</a:t>
            </a:r>
          </a:p>
          <a:p>
            <a:pPr>
              <a:spcAft>
                <a:spcPts val="400"/>
              </a:spcAft>
              <a:defRPr sz="1800">
                <a:solidFill>
                  <a:srgbClr val="2D2D2D"/>
                </a:solidFill>
                <a:latin typeface="Aptos"/>
              </a:defRPr>
            </a:pPr>
            <a:r>
              <a:t>Después ajusta colores, tipografía y espaciados.</a:t>
            </a:r>
          </a:p>
          <a:p>
            <a:pPr>
              <a:spcAft>
                <a:spcPts val="400"/>
              </a:spcAft>
              <a:defRPr sz="1800">
                <a:solidFill>
                  <a:srgbClr val="2D2D2D"/>
                </a:solidFill>
                <a:latin typeface="Aptos"/>
              </a:defRPr>
            </a:pPr>
            <a:r>
              <a:t>Al final revisa responsive y estados interactivos.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54496" y="1554480"/>
            <a:ext cx="5394960" cy="4892040"/>
          </a:xfrm>
          <a:prstGeom prst="roundRect">
            <a:avLst/>
          </a:prstGeom>
          <a:solidFill>
            <a:srgbClr val="F5F7FA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345936" y="1627632"/>
            <a:ext cx="5212080" cy="384048"/>
          </a:xfrm>
          <a:prstGeom prst="roundRect">
            <a:avLst/>
          </a:prstGeom>
          <a:solidFill>
            <a:srgbClr val="2257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700" b="1">
                <a:solidFill>
                  <a:srgbClr val="FFFFFF"/>
                </a:solidFill>
                <a:latin typeface="Aptos"/>
              </a:rPr>
              <a:t>Errores que conviene evitar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3952" y="2103120"/>
            <a:ext cx="4956048" cy="4178808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spcAft>
                <a:spcPts val="400"/>
              </a:spcAft>
              <a:defRPr sz="1800">
                <a:solidFill>
                  <a:srgbClr val="2D2D2D"/>
                </a:solidFill>
                <a:latin typeface="Aptos"/>
              </a:defRPr>
            </a:pPr>
            <a:r>
              <a:t>Meter demasiados estilos sin orden.</a:t>
            </a:r>
          </a:p>
          <a:p>
            <a:pPr>
              <a:spcAft>
                <a:spcPts val="400"/>
              </a:spcAft>
              <a:defRPr sz="1800">
                <a:solidFill>
                  <a:srgbClr val="2D2D2D"/>
                </a:solidFill>
                <a:latin typeface="Aptos"/>
              </a:defRPr>
            </a:pPr>
            <a:r>
              <a:t>Usar tamaños incoherentes entre secciones.</a:t>
            </a:r>
          </a:p>
          <a:p>
            <a:pPr>
              <a:spcAft>
                <a:spcPts val="400"/>
              </a:spcAft>
              <a:defRPr sz="1800">
                <a:solidFill>
                  <a:srgbClr val="2D2D2D"/>
                </a:solidFill>
                <a:latin typeface="Aptos"/>
              </a:defRPr>
            </a:pPr>
            <a:r>
              <a:t>Olvidar hover, foco o contraste.</a:t>
            </a:r>
          </a:p>
          <a:p>
            <a:pPr>
              <a:spcAft>
                <a:spcPts val="400"/>
              </a:spcAft>
              <a:defRPr sz="1800">
                <a:solidFill>
                  <a:srgbClr val="2D2D2D"/>
                </a:solidFill>
                <a:latin typeface="Aptos"/>
              </a:defRPr>
            </a:pPr>
            <a:r>
              <a:t>Hacer un diseño bonito pero poco legible.</a:t>
            </a:r>
          </a:p>
          <a:p>
            <a:pPr>
              <a:spcAft>
                <a:spcPts val="400"/>
              </a:spcAft>
              <a:defRPr sz="1800">
                <a:solidFill>
                  <a:srgbClr val="2D2D2D"/>
                </a:solidFill>
                <a:latin typeface="Aptos"/>
              </a:defRPr>
            </a:pPr>
            <a:r>
              <a:t>No revisar cómo queda en pantallas pequeñas.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12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E67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5486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1274F"/>
                </a:solidFill>
                <a:latin typeface="Aptos Display"/>
              </a:rPr>
              <a:t>Consejos finales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2578F"/>
                </a:solidFill>
                <a:latin typeface="Aptos"/>
              </a:rPr>
              <a:t>Qué conviene recordar antes de entrar al examen.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54480"/>
            <a:ext cx="11064240" cy="4892040"/>
          </a:xfrm>
          <a:prstGeom prst="roundRect">
            <a:avLst/>
          </a:prstGeom>
          <a:solidFill>
            <a:srgbClr val="F5F7FA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627632"/>
            <a:ext cx="10881360" cy="384048"/>
          </a:xfrm>
          <a:prstGeom prst="roundRect">
            <a:avLst/>
          </a:prstGeom>
          <a:solidFill>
            <a:srgbClr val="2257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700" b="1">
                <a:solidFill>
                  <a:srgbClr val="FFFFFF"/>
                </a:solidFill>
                <a:latin typeface="Aptos"/>
              </a:rPr>
              <a:t>Resumen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" y="2103120"/>
            <a:ext cx="10625328" cy="4178808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spcAft>
                <a:spcPts val="400"/>
              </a:spcAft>
              <a:defRPr sz="2000">
                <a:solidFill>
                  <a:srgbClr val="2D2D2D"/>
                </a:solidFill>
                <a:latin typeface="Aptos"/>
              </a:defRPr>
            </a:pPr>
            <a:r>
              <a:t>No busques complicar la práctica: prioriza orden, claridad y legibilidad.</a:t>
            </a:r>
          </a:p>
          <a:p>
            <a:pPr>
              <a:spcAft>
                <a:spcPts val="400"/>
              </a:spcAft>
              <a:defRPr sz="2000">
                <a:solidFill>
                  <a:srgbClr val="2D2D2D"/>
                </a:solidFill>
                <a:latin typeface="Aptos"/>
              </a:defRPr>
            </a:pPr>
            <a:r>
              <a:t>Si el ejercicio es HTML + CSS, cuida primero la estructura y luego el estilo.</a:t>
            </a:r>
          </a:p>
          <a:p>
            <a:pPr>
              <a:spcAft>
                <a:spcPts val="400"/>
              </a:spcAft>
              <a:defRPr sz="2000">
                <a:solidFill>
                  <a:srgbClr val="2D2D2D"/>
                </a:solidFill>
                <a:latin typeface="Aptos"/>
              </a:defRPr>
            </a:pPr>
            <a:r>
              <a:t>Si te dan el HTML, interpreta bien las clases y evita CSS repetitivo.</a:t>
            </a:r>
          </a:p>
          <a:p>
            <a:pPr>
              <a:spcAft>
                <a:spcPts val="400"/>
              </a:spcAft>
              <a:defRPr sz="2000">
                <a:solidFill>
                  <a:srgbClr val="2D2D2D"/>
                </a:solidFill>
                <a:latin typeface="Aptos"/>
              </a:defRPr>
            </a:pPr>
            <a:r>
              <a:t>En teoría, responde con criterio técnico y ejemplos concretos.</a:t>
            </a:r>
          </a:p>
          <a:p>
            <a:pPr>
              <a:spcAft>
                <a:spcPts val="400"/>
              </a:spcAft>
              <a:defRPr sz="2000">
                <a:solidFill>
                  <a:srgbClr val="2D2D2D"/>
                </a:solidFill>
                <a:latin typeface="Aptos"/>
              </a:defRPr>
            </a:pPr>
            <a:r>
              <a:t>En accesibilidad e interacción, piensa siempre en facilitar el uso a la persona que visita la web.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